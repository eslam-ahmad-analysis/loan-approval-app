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slam eloraby" initials="ee" lastIdx="2" clrIdx="0">
    <p:extLst>
      <p:ext uri="{19B8F6BF-5375-455C-9EA6-DF929625EA0E}">
        <p15:presenceInfo xmlns:p15="http://schemas.microsoft.com/office/powerpoint/2012/main" userId="e34d9c8d7ec459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7" d="100"/>
          <a:sy n="87" d="100"/>
        </p:scale>
        <p:origin x="33" y="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0T20:21:44.425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10T22:20:25.499" idx="2">
    <p:pos x="7619" y="712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0CE64-2E3D-4571-9E66-0235C1F0B4C3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BF45-2C96-4ECF-A8FB-B80D9FAE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807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0CE64-2E3D-4571-9E66-0235C1F0B4C3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0CB6BF45-2C96-4ECF-A8FB-B80D9FAE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51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0CE64-2E3D-4571-9E66-0235C1F0B4C3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BF45-2C96-4ECF-A8FB-B80D9FAE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784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0CE64-2E3D-4571-9E66-0235C1F0B4C3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BF45-2C96-4ECF-A8FB-B80D9FAE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67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0CE64-2E3D-4571-9E66-0235C1F0B4C3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BF45-2C96-4ECF-A8FB-B80D9FAE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391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0CE64-2E3D-4571-9E66-0235C1F0B4C3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BF45-2C96-4ECF-A8FB-B80D9FAE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71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0CE64-2E3D-4571-9E66-0235C1F0B4C3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BF45-2C96-4ECF-A8FB-B80D9FAE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920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0CE64-2E3D-4571-9E66-0235C1F0B4C3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BF45-2C96-4ECF-A8FB-B80D9FAE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588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0CE64-2E3D-4571-9E66-0235C1F0B4C3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BF45-2C96-4ECF-A8FB-B80D9FAE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24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0CE64-2E3D-4571-9E66-0235C1F0B4C3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BF45-2C96-4ECF-A8FB-B80D9FAE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63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0CE64-2E3D-4571-9E66-0235C1F0B4C3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BF45-2C96-4ECF-A8FB-B80D9FAE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68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0CE64-2E3D-4571-9E66-0235C1F0B4C3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BF45-2C96-4ECF-A8FB-B80D9FAE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180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0CE64-2E3D-4571-9E66-0235C1F0B4C3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BF45-2C96-4ECF-A8FB-B80D9FAE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5254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0CE64-2E3D-4571-9E66-0235C1F0B4C3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BF45-2C96-4ECF-A8FB-B80D9FAE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830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0CE64-2E3D-4571-9E66-0235C1F0B4C3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BF45-2C96-4ECF-A8FB-B80D9FAE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7230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0CE64-2E3D-4571-9E66-0235C1F0B4C3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BF45-2C96-4ECF-A8FB-B80D9FAE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8573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0CE64-2E3D-4571-9E66-0235C1F0B4C3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6BF45-2C96-4ECF-A8FB-B80D9FAE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342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160CE64-2E3D-4571-9E66-0235C1F0B4C3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CB6BF45-2C96-4ECF-A8FB-B80D9FAEC4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928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DAAF0-0E83-7702-C2C3-543E033D0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Loan risk prediction</a:t>
            </a:r>
            <a:b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D907A-B5D3-6100-0C0D-F538FC9367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36DB6D-9E59-BD0A-538B-270797A5AA46}"/>
              </a:ext>
            </a:extLst>
          </p:cNvPr>
          <p:cNvSpPr/>
          <p:nvPr/>
        </p:nvSpPr>
        <p:spPr>
          <a:xfrm>
            <a:off x="6003634" y="296733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05187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4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9A5E77-BC71-6945-87DA-3B816655E76F}"/>
              </a:ext>
            </a:extLst>
          </p:cNvPr>
          <p:cNvSpPr txBox="1"/>
          <p:nvPr/>
        </p:nvSpPr>
        <p:spPr>
          <a:xfrm>
            <a:off x="3246941" y="706332"/>
            <a:ext cx="703047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1400" dirty="0"/>
              <a:t>The Loan Risk Prediction dataset  is to predict whether a loan application will be approved based on applicant demographic, financial, and employment-related information.</a:t>
            </a:r>
          </a:p>
          <a:p>
            <a:pPr marL="342900" indent="-342900">
              <a:buAutoNum type="arabicParenR"/>
            </a:pPr>
            <a:r>
              <a:rPr lang="en-US" sz="1400" dirty="0"/>
              <a:t>Dataset include 5000 rows under the following columns :-</a:t>
            </a:r>
          </a:p>
          <a:p>
            <a:endParaRPr lang="en-US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104942-BC8F-6685-0132-F88A4D259758}"/>
              </a:ext>
            </a:extLst>
          </p:cNvPr>
          <p:cNvSpPr/>
          <p:nvPr/>
        </p:nvSpPr>
        <p:spPr>
          <a:xfrm>
            <a:off x="2131229" y="43"/>
            <a:ext cx="604361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“Data overview”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E5EA007-BB30-DBA0-6E67-C4204C86272D}"/>
              </a:ext>
            </a:extLst>
          </p:cNvPr>
          <p:cNvSpPr/>
          <p:nvPr/>
        </p:nvSpPr>
        <p:spPr>
          <a:xfrm>
            <a:off x="6711667" y="3841941"/>
            <a:ext cx="1904082" cy="4834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EDB0A49-2AE1-D845-73C4-F5BEF602B085}"/>
              </a:ext>
            </a:extLst>
          </p:cNvPr>
          <p:cNvSpPr/>
          <p:nvPr/>
        </p:nvSpPr>
        <p:spPr>
          <a:xfrm>
            <a:off x="6741682" y="4714769"/>
            <a:ext cx="1844052" cy="499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Gender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5B02A00-0C92-A57E-7C93-E5B95600A1F2}"/>
              </a:ext>
            </a:extLst>
          </p:cNvPr>
          <p:cNvSpPr/>
          <p:nvPr/>
        </p:nvSpPr>
        <p:spPr>
          <a:xfrm>
            <a:off x="6715666" y="5525119"/>
            <a:ext cx="1896085" cy="45468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City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F1D9B9-F54B-9AE9-2C24-F0A08B887B02}"/>
              </a:ext>
            </a:extLst>
          </p:cNvPr>
          <p:cNvSpPr/>
          <p:nvPr/>
        </p:nvSpPr>
        <p:spPr>
          <a:xfrm>
            <a:off x="6691420" y="6290514"/>
            <a:ext cx="1944576" cy="4763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Education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ED9E38-E73D-3179-A80C-FE481E04F040}"/>
              </a:ext>
            </a:extLst>
          </p:cNvPr>
          <p:cNvSpPr/>
          <p:nvPr/>
        </p:nvSpPr>
        <p:spPr>
          <a:xfrm>
            <a:off x="9752169" y="5470587"/>
            <a:ext cx="1544077" cy="5092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Income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17C01E7-573B-5DB6-F0FB-3F4F3DFE370D}"/>
              </a:ext>
            </a:extLst>
          </p:cNvPr>
          <p:cNvSpPr/>
          <p:nvPr/>
        </p:nvSpPr>
        <p:spPr>
          <a:xfrm>
            <a:off x="9437787" y="3848815"/>
            <a:ext cx="2172841" cy="5092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LoanAmount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16E0161-F49A-C575-9211-C9D116930577}"/>
              </a:ext>
            </a:extLst>
          </p:cNvPr>
          <p:cNvSpPr/>
          <p:nvPr/>
        </p:nvSpPr>
        <p:spPr>
          <a:xfrm>
            <a:off x="9437787" y="4659701"/>
            <a:ext cx="2172841" cy="5092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CreditScore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246B519-A6E6-46FB-3A22-292C1B75A5F9}"/>
              </a:ext>
            </a:extLst>
          </p:cNvPr>
          <p:cNvSpPr/>
          <p:nvPr/>
        </p:nvSpPr>
        <p:spPr>
          <a:xfrm>
            <a:off x="3438581" y="3802328"/>
            <a:ext cx="2815294" cy="6187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EmploymentType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FEB74D8-271B-F114-A1B0-71DDE8A306E4}"/>
              </a:ext>
            </a:extLst>
          </p:cNvPr>
          <p:cNvSpPr/>
          <p:nvPr/>
        </p:nvSpPr>
        <p:spPr>
          <a:xfrm>
            <a:off x="3573187" y="4659701"/>
            <a:ext cx="2546083" cy="6789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Years Experience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E8EFD76-3292-D319-2873-DB5A94196473}"/>
              </a:ext>
            </a:extLst>
          </p:cNvPr>
          <p:cNvSpPr/>
          <p:nvPr/>
        </p:nvSpPr>
        <p:spPr>
          <a:xfrm>
            <a:off x="6573472" y="1603022"/>
            <a:ext cx="3923158" cy="7446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LoanApproved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389040-19F5-7A5D-D96D-291189188D19}"/>
              </a:ext>
            </a:extLst>
          </p:cNvPr>
          <p:cNvSpPr/>
          <p:nvPr/>
        </p:nvSpPr>
        <p:spPr>
          <a:xfrm>
            <a:off x="1680963" y="1682613"/>
            <a:ext cx="2787003" cy="55399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0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Target Variable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7D1E041-68B9-7FEA-9C2C-2FF8CA062950}"/>
              </a:ext>
            </a:extLst>
          </p:cNvPr>
          <p:cNvSpPr/>
          <p:nvPr/>
        </p:nvSpPr>
        <p:spPr>
          <a:xfrm>
            <a:off x="4558311" y="1808511"/>
            <a:ext cx="1834276" cy="345160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92471E-A5B2-BD46-5474-01F9BF19F58D}"/>
              </a:ext>
            </a:extLst>
          </p:cNvPr>
          <p:cNvSpPr/>
          <p:nvPr/>
        </p:nvSpPr>
        <p:spPr>
          <a:xfrm>
            <a:off x="6096000" y="2925535"/>
            <a:ext cx="2601751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Demographic features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57070D-1B62-67AE-742E-1EF919CF38D2}"/>
              </a:ext>
            </a:extLst>
          </p:cNvPr>
          <p:cNvSpPr/>
          <p:nvPr/>
        </p:nvSpPr>
        <p:spPr>
          <a:xfrm>
            <a:off x="8845908" y="2938300"/>
            <a:ext cx="3016332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financial features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0564E7-7F6C-929D-D949-B34C49106ECE}"/>
              </a:ext>
            </a:extLst>
          </p:cNvPr>
          <p:cNvSpPr/>
          <p:nvPr/>
        </p:nvSpPr>
        <p:spPr>
          <a:xfrm>
            <a:off x="3005590" y="2938300"/>
            <a:ext cx="3016332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employment features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57B38B1-BF7E-E4D4-7CB1-40529FD9120D}"/>
              </a:ext>
            </a:extLst>
          </p:cNvPr>
          <p:cNvCxnSpPr>
            <a:cxnSpLocks/>
          </p:cNvCxnSpPr>
          <p:nvPr/>
        </p:nvCxnSpPr>
        <p:spPr>
          <a:xfrm flipH="1">
            <a:off x="5694468" y="2251639"/>
            <a:ext cx="1121827" cy="6037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FD71D76-F670-2AA4-1314-ACA86918F2D4}"/>
              </a:ext>
            </a:extLst>
          </p:cNvPr>
          <p:cNvCxnSpPr>
            <a:cxnSpLocks/>
          </p:cNvCxnSpPr>
          <p:nvPr/>
        </p:nvCxnSpPr>
        <p:spPr>
          <a:xfrm flipH="1">
            <a:off x="7818941" y="2387296"/>
            <a:ext cx="290199" cy="5382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642F3FB-2963-959E-BB02-7E11E2B80102}"/>
              </a:ext>
            </a:extLst>
          </p:cNvPr>
          <p:cNvCxnSpPr>
            <a:cxnSpLocks/>
          </p:cNvCxnSpPr>
          <p:nvPr/>
        </p:nvCxnSpPr>
        <p:spPr>
          <a:xfrm>
            <a:off x="9827289" y="2302606"/>
            <a:ext cx="450128" cy="5072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775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32922A-068B-4290-0CA8-54CF76DFC473}"/>
              </a:ext>
            </a:extLst>
          </p:cNvPr>
          <p:cNvSpPr/>
          <p:nvPr/>
        </p:nvSpPr>
        <p:spPr>
          <a:xfrm>
            <a:off x="2131229" y="43"/>
            <a:ext cx="604361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“magical insight”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3F4735-C18E-30D2-E858-B6382ADD37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229" y="574921"/>
            <a:ext cx="7297493" cy="36098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6370AD-2CB0-E561-ACAE-0F7CB9B81EDE}"/>
              </a:ext>
            </a:extLst>
          </p:cNvPr>
          <p:cNvSpPr txBox="1"/>
          <p:nvPr/>
        </p:nvSpPr>
        <p:spPr>
          <a:xfrm>
            <a:off x="2131229" y="4659606"/>
            <a:ext cx="8645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 77% of loans rejected only 23% of loans approved</a:t>
            </a:r>
          </a:p>
        </p:txBody>
      </p:sp>
    </p:spTree>
    <p:extLst>
      <p:ext uri="{BB962C8B-B14F-4D97-AF65-F5344CB8AC3E}">
        <p14:creationId xmlns:p14="http://schemas.microsoft.com/office/powerpoint/2010/main" val="2525869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9F2B79-4B72-A746-5E49-C9B975F04AB6}"/>
              </a:ext>
            </a:extLst>
          </p:cNvPr>
          <p:cNvSpPr/>
          <p:nvPr/>
        </p:nvSpPr>
        <p:spPr>
          <a:xfrm>
            <a:off x="2131229" y="43"/>
            <a:ext cx="604361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“magical insight”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7EC954-BFF7-AC5E-48A0-65B3A51C0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229" y="689906"/>
            <a:ext cx="9915046" cy="36392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2348F6-DE26-7A6B-6701-81FFC48BAE6C}"/>
              </a:ext>
            </a:extLst>
          </p:cNvPr>
          <p:cNvSpPr txBox="1"/>
          <p:nvPr/>
        </p:nvSpPr>
        <p:spPr>
          <a:xfrm>
            <a:off x="1056762" y="4758166"/>
            <a:ext cx="1113523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chemeClr val="accent1"/>
                </a:solidFill>
              </a:rPr>
              <a:t>Majority of unemployed loan applicants face rejection despite salaried &amp; </a:t>
            </a:r>
            <a:r>
              <a:rPr lang="en-US" sz="2300" b="1" dirty="0" err="1">
                <a:solidFill>
                  <a:schemeClr val="accent1"/>
                </a:solidFill>
              </a:rPr>
              <a:t>self_employed</a:t>
            </a:r>
            <a:endParaRPr lang="en-US" sz="23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004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B219F6-0243-6E56-EB77-1C8409E9FAF5}"/>
              </a:ext>
            </a:extLst>
          </p:cNvPr>
          <p:cNvSpPr/>
          <p:nvPr/>
        </p:nvSpPr>
        <p:spPr>
          <a:xfrm>
            <a:off x="2131229" y="43"/>
            <a:ext cx="604361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“magical insight”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849C7D-E696-2856-478B-5F4DF236B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229" y="892499"/>
            <a:ext cx="9616695" cy="352978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4CF41A-1934-BF5A-9A8B-319A07198654}"/>
              </a:ext>
            </a:extLst>
          </p:cNvPr>
          <p:cNvSpPr txBox="1"/>
          <p:nvPr/>
        </p:nvSpPr>
        <p:spPr>
          <a:xfrm>
            <a:off x="2131229" y="4988133"/>
            <a:ext cx="99269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To ensure safe application to loan and approval your credit score should exceed 600</a:t>
            </a:r>
          </a:p>
        </p:txBody>
      </p:sp>
    </p:spTree>
    <p:extLst>
      <p:ext uri="{BB962C8B-B14F-4D97-AF65-F5344CB8AC3E}">
        <p14:creationId xmlns:p14="http://schemas.microsoft.com/office/powerpoint/2010/main" val="3908675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E348C4-A5BF-0459-CFBF-FDEC790D3E1A}"/>
              </a:ext>
            </a:extLst>
          </p:cNvPr>
          <p:cNvSpPr/>
          <p:nvPr/>
        </p:nvSpPr>
        <p:spPr>
          <a:xfrm>
            <a:off x="2131229" y="43"/>
            <a:ext cx="604361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“magical insight”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7B5F0C-C956-FD41-CEF0-C93C127D8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229" y="983038"/>
            <a:ext cx="9563954" cy="351042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FA1BF9-5314-1EDD-1C38-EF6CAF146A8B}"/>
              </a:ext>
            </a:extLst>
          </p:cNvPr>
          <p:cNvSpPr txBox="1"/>
          <p:nvPr/>
        </p:nvSpPr>
        <p:spPr>
          <a:xfrm>
            <a:off x="668006" y="4965973"/>
            <a:ext cx="1152399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chemeClr val="accent1"/>
                </a:solidFill>
              </a:rPr>
              <a:t>"Income and Credit Score are the most important features for loan approval eligibility."</a:t>
            </a:r>
          </a:p>
        </p:txBody>
      </p:sp>
    </p:spTree>
    <p:extLst>
      <p:ext uri="{BB962C8B-B14F-4D97-AF65-F5344CB8AC3E}">
        <p14:creationId xmlns:p14="http://schemas.microsoft.com/office/powerpoint/2010/main" val="169811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8B95CE-2A29-96F9-C861-0D079CCF825B}"/>
              </a:ext>
            </a:extLst>
          </p:cNvPr>
          <p:cNvSpPr/>
          <p:nvPr/>
        </p:nvSpPr>
        <p:spPr>
          <a:xfrm>
            <a:off x="2131229" y="43"/>
            <a:ext cx="604361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“magical insight”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D8A490-670B-8FB1-A3C8-472AFEB5A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229" y="995649"/>
            <a:ext cx="9514676" cy="3492336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F519C8-C578-E9F9-7D3D-BFCAA0CB5F31}"/>
              </a:ext>
            </a:extLst>
          </p:cNvPr>
          <p:cNvSpPr txBox="1"/>
          <p:nvPr/>
        </p:nvSpPr>
        <p:spPr>
          <a:xfrm>
            <a:off x="2601478" y="4818395"/>
            <a:ext cx="8595815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solidFill>
                  <a:schemeClr val="accent1"/>
                </a:solidFill>
              </a:rPr>
              <a:t>"Maintain a credit score above 600, earn more than 15K income, and request a reasonable loan amount to increase your chances of loan approval."</a:t>
            </a:r>
          </a:p>
        </p:txBody>
      </p:sp>
    </p:spTree>
    <p:extLst>
      <p:ext uri="{BB962C8B-B14F-4D97-AF65-F5344CB8AC3E}">
        <p14:creationId xmlns:p14="http://schemas.microsoft.com/office/powerpoint/2010/main" val="1470997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F07DEB-5331-89A0-0245-9EB1814F05F2}"/>
              </a:ext>
            </a:extLst>
          </p:cNvPr>
          <p:cNvSpPr/>
          <p:nvPr/>
        </p:nvSpPr>
        <p:spPr>
          <a:xfrm>
            <a:off x="2131229" y="43"/>
            <a:ext cx="604361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“ML MODEL”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A2C0ED-41A9-1568-5A05-23F63619A1B4}"/>
              </a:ext>
            </a:extLst>
          </p:cNvPr>
          <p:cNvSpPr/>
          <p:nvPr/>
        </p:nvSpPr>
        <p:spPr>
          <a:xfrm>
            <a:off x="4704452" y="400153"/>
            <a:ext cx="36263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Model code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CD32D6-4185-FC5D-C7DB-4E9FBA2EB168}"/>
              </a:ext>
            </a:extLst>
          </p:cNvPr>
          <p:cNvSpPr/>
          <p:nvPr/>
        </p:nvSpPr>
        <p:spPr>
          <a:xfrm>
            <a:off x="1710146" y="1323483"/>
            <a:ext cx="2507802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Required libraries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05C36B-9FF1-51D4-3346-B656367F50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9198" y="1834276"/>
            <a:ext cx="9309599" cy="27187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4D6B0D7-E8B0-B5A4-4F2A-405A0C6867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146" y="4666032"/>
            <a:ext cx="8928651" cy="143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88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E99D7FA-E23F-2EEC-F569-AC52A91644B5}"/>
              </a:ext>
            </a:extLst>
          </p:cNvPr>
          <p:cNvSpPr/>
          <p:nvPr/>
        </p:nvSpPr>
        <p:spPr>
          <a:xfrm>
            <a:off x="2131229" y="43"/>
            <a:ext cx="604361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“ML MODEL”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6431CF-A64B-A15E-16CF-AA5C4E228669}"/>
              </a:ext>
            </a:extLst>
          </p:cNvPr>
          <p:cNvSpPr/>
          <p:nvPr/>
        </p:nvSpPr>
        <p:spPr>
          <a:xfrm>
            <a:off x="2131229" y="803316"/>
            <a:ext cx="2993791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Models code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E81530-2823-71B3-36BF-7DCA41561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229" y="1369125"/>
            <a:ext cx="9679315" cy="50430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E98E427-1E1A-B0B8-FC5A-94684ADC234E}"/>
              </a:ext>
            </a:extLst>
          </p:cNvPr>
          <p:cNvSpPr/>
          <p:nvPr/>
        </p:nvSpPr>
        <p:spPr>
          <a:xfrm>
            <a:off x="6291291" y="745217"/>
            <a:ext cx="532761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FIRST</a:t>
            </a:r>
          </a:p>
        </p:txBody>
      </p:sp>
    </p:spTree>
    <p:extLst>
      <p:ext uri="{BB962C8B-B14F-4D97-AF65-F5344CB8AC3E}">
        <p14:creationId xmlns:p14="http://schemas.microsoft.com/office/powerpoint/2010/main" val="318911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5E799-B459-D785-313C-169B761CA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8412D3-EB3B-E1BF-3429-7B284C03D5D4}"/>
              </a:ext>
            </a:extLst>
          </p:cNvPr>
          <p:cNvSpPr/>
          <p:nvPr/>
        </p:nvSpPr>
        <p:spPr>
          <a:xfrm>
            <a:off x="2131229" y="43"/>
            <a:ext cx="604361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“ML MODEL”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ED7CFD-0BBB-7F24-9237-F366B2BAAE74}"/>
              </a:ext>
            </a:extLst>
          </p:cNvPr>
          <p:cNvSpPr/>
          <p:nvPr/>
        </p:nvSpPr>
        <p:spPr>
          <a:xfrm>
            <a:off x="2131229" y="594092"/>
            <a:ext cx="2993791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Models code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1AF5B5-F291-0FB1-D246-8C15C969F06E}"/>
              </a:ext>
            </a:extLst>
          </p:cNvPr>
          <p:cNvSpPr/>
          <p:nvPr/>
        </p:nvSpPr>
        <p:spPr>
          <a:xfrm>
            <a:off x="6269389" y="531675"/>
            <a:ext cx="5327612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second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EFD39B-7DB9-E154-8774-8A1491756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229" y="1068344"/>
            <a:ext cx="9964038" cy="51955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9F48CA3-6E1D-E49D-0A8B-568D34E7F1EE}"/>
              </a:ext>
            </a:extLst>
          </p:cNvPr>
          <p:cNvSpPr/>
          <p:nvPr/>
        </p:nvSpPr>
        <p:spPr>
          <a:xfrm>
            <a:off x="3628124" y="6341894"/>
            <a:ext cx="604361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“return </a:t>
            </a:r>
            <a:r>
              <a:rPr lang="en-US" sz="2000" b="1" dirty="0" err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pd.dataframe</a:t>
            </a:r>
            <a:r>
              <a:rPr 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(results)”</a:t>
            </a:r>
          </a:p>
        </p:txBody>
      </p:sp>
    </p:spTree>
    <p:extLst>
      <p:ext uri="{BB962C8B-B14F-4D97-AF65-F5344CB8AC3E}">
        <p14:creationId xmlns:p14="http://schemas.microsoft.com/office/powerpoint/2010/main" val="4222080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9B574E-8BD3-BCF0-CDA3-FBCB8ECCFC3B}"/>
              </a:ext>
            </a:extLst>
          </p:cNvPr>
          <p:cNvSpPr/>
          <p:nvPr/>
        </p:nvSpPr>
        <p:spPr>
          <a:xfrm>
            <a:off x="2131229" y="43"/>
            <a:ext cx="604361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“ML MODEL”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9D8328-7535-B425-5FA6-C72071F4C5E8}"/>
              </a:ext>
            </a:extLst>
          </p:cNvPr>
          <p:cNvSpPr/>
          <p:nvPr/>
        </p:nvSpPr>
        <p:spPr>
          <a:xfrm>
            <a:off x="2131229" y="594092"/>
            <a:ext cx="2993791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Evaluation code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70FE81-4A99-8C82-E4C4-E0030E94D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229" y="1249696"/>
            <a:ext cx="9569806" cy="5160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554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677C19-572E-E2A1-5EF7-2A3D97F9B30E}"/>
              </a:ext>
            </a:extLst>
          </p:cNvPr>
          <p:cNvSpPr/>
          <p:nvPr/>
        </p:nvSpPr>
        <p:spPr>
          <a:xfrm>
            <a:off x="2131229" y="43"/>
            <a:ext cx="604361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“ML MODEL”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78BE8C-243D-D6AF-4CA8-2D3B4DC6ADD2}"/>
              </a:ext>
            </a:extLst>
          </p:cNvPr>
          <p:cNvSpPr/>
          <p:nvPr/>
        </p:nvSpPr>
        <p:spPr>
          <a:xfrm>
            <a:off x="2131229" y="594092"/>
            <a:ext cx="2993791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Result code &amp;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682BD5-2707-921D-19A8-120BBD932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228" y="1223483"/>
            <a:ext cx="9996891" cy="48990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70676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lock Arc 4">
            <a:extLst>
              <a:ext uri="{FF2B5EF4-FFF2-40B4-BE49-F238E27FC236}">
                <a16:creationId xmlns:a16="http://schemas.microsoft.com/office/drawing/2014/main" id="{BC4D2241-137F-4FAD-5624-26EE65609A87}"/>
              </a:ext>
            </a:extLst>
          </p:cNvPr>
          <p:cNvSpPr/>
          <p:nvPr/>
        </p:nvSpPr>
        <p:spPr>
          <a:xfrm rot="16200000">
            <a:off x="1965687" y="1713816"/>
            <a:ext cx="2513231" cy="2507756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Block Arc 5">
            <a:extLst>
              <a:ext uri="{FF2B5EF4-FFF2-40B4-BE49-F238E27FC236}">
                <a16:creationId xmlns:a16="http://schemas.microsoft.com/office/drawing/2014/main" id="{68EC07A3-BC58-AE0C-0C85-BD908C51AF42}"/>
              </a:ext>
            </a:extLst>
          </p:cNvPr>
          <p:cNvSpPr/>
          <p:nvPr/>
        </p:nvSpPr>
        <p:spPr>
          <a:xfrm rot="5400000">
            <a:off x="9787365" y="1713817"/>
            <a:ext cx="2513231" cy="2507756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5B53368-F449-58BC-E8BE-C0BFB4EC2DDE}"/>
              </a:ext>
            </a:extLst>
          </p:cNvPr>
          <p:cNvSpPr/>
          <p:nvPr/>
        </p:nvSpPr>
        <p:spPr>
          <a:xfrm>
            <a:off x="3630223" y="3531665"/>
            <a:ext cx="6926443" cy="2562511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8F3DD2D-1A7C-3D53-3F8F-A0302B5CDADA}"/>
              </a:ext>
            </a:extLst>
          </p:cNvPr>
          <p:cNvSpPr/>
          <p:nvPr/>
        </p:nvSpPr>
        <p:spPr>
          <a:xfrm>
            <a:off x="3739732" y="114984"/>
            <a:ext cx="6707425" cy="2425624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3689191-0094-278F-12E4-AEA2AAAA3A34}"/>
              </a:ext>
            </a:extLst>
          </p:cNvPr>
          <p:cNvSpPr/>
          <p:nvPr/>
        </p:nvSpPr>
        <p:spPr>
          <a:xfrm>
            <a:off x="3142908" y="1078663"/>
            <a:ext cx="8037959" cy="366307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5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 </a:t>
            </a:r>
            <a:endParaRPr lang="en-US" sz="5000" dirty="0">
              <a:ln w="0"/>
              <a:solidFill>
                <a:schemeClr val="bg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465506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1A9F9826-882C-40B9-8F38-5A3B8CFD19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152</TotalTime>
  <Words>210</Words>
  <Application>Microsoft Office PowerPoint</Application>
  <PresentationFormat>Widescreen</PresentationFormat>
  <Paragraphs>43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Corbel</vt:lpstr>
      <vt:lpstr>Parallax</vt:lpstr>
      <vt:lpstr>Loan risk prediction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eslam eloraby</dc:creator>
  <cp:lastModifiedBy>eslam eloraby</cp:lastModifiedBy>
  <cp:revision>15</cp:revision>
  <dcterms:created xsi:type="dcterms:W3CDTF">2026-05-10T16:57:11Z</dcterms:created>
  <dcterms:modified xsi:type="dcterms:W3CDTF">2026-05-10T19:29:19Z</dcterms:modified>
</cp:coreProperties>
</file>